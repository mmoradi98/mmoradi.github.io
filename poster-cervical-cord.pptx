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jwIz6WtGqGQFLfnJAr4imwfOp2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787"/>
    <a:srgbClr val="EDB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/>
    <p:restoredTop sz="94658"/>
  </p:normalViewPr>
  <p:slideViewPr>
    <p:cSldViewPr snapToGrid="0">
      <p:cViewPr varScale="1">
        <p:scale>
          <a:sx n="25" d="100"/>
          <a:sy n="25" d="100"/>
        </p:scale>
        <p:origin x="1552" y="16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1c7a25b4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251c7a25b4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251c7a25b43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lvl="0" algn="ctr">
              <a:spcBef>
                <a:spcPts val="3080"/>
              </a:spcBef>
              <a:spcAft>
                <a:spcPts val="0"/>
              </a:spcAft>
              <a:buClr>
                <a:srgbClr val="888888"/>
              </a:buClr>
              <a:buSzPts val="15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680"/>
              </a:spcBef>
              <a:spcAft>
                <a:spcPts val="0"/>
              </a:spcAft>
              <a:buClr>
                <a:srgbClr val="888888"/>
              </a:buClr>
              <a:buSzPts val="13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115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marL="457200" lvl="0" indent="-228600" algn="l">
              <a:spcBef>
                <a:spcPts val="192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720"/>
              </a:spcBef>
              <a:spcAft>
                <a:spcPts val="0"/>
              </a:spcAft>
              <a:buClr>
                <a:srgbClr val="888888"/>
              </a:buClr>
              <a:buSzPts val="8600"/>
              <a:buNone/>
              <a:defRPr sz="86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540"/>
              </a:spcBef>
              <a:spcAft>
                <a:spcPts val="0"/>
              </a:spcAft>
              <a:buClr>
                <a:srgbClr val="888888"/>
              </a:buClr>
              <a:buSzPts val="7700"/>
              <a:buNone/>
              <a:defRPr sz="77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None/>
              <a:defRPr sz="6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None/>
              <a:defRPr sz="6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None/>
              <a:defRPr sz="6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None/>
              <a:defRPr sz="6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None/>
              <a:defRPr sz="6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340"/>
              </a:spcBef>
              <a:spcAft>
                <a:spcPts val="0"/>
              </a:spcAft>
              <a:buClr>
                <a:srgbClr val="888888"/>
              </a:buClr>
              <a:buSzPts val="6700"/>
              <a:buNone/>
              <a:defRPr sz="6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194560" y="7680963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10795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marL="914400" lvl="1" indent="-95885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marL="1371600" lvl="2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3pPr>
            <a:lvl4pPr marL="1828800" lvl="3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–"/>
              <a:defRPr sz="8600"/>
            </a:lvl4pPr>
            <a:lvl5pPr marL="2286000" lvl="4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»"/>
              <a:defRPr sz="8600"/>
            </a:lvl5pPr>
            <a:lvl6pPr marL="2743200" lvl="5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6pPr>
            <a:lvl7pPr marL="3200400" lvl="6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7pPr>
            <a:lvl8pPr marL="3657600" lvl="7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8pPr>
            <a:lvl9pPr marL="4114800" lvl="8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22311360" y="7680963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10795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marL="914400" lvl="1" indent="-95885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marL="1371600" lvl="2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3pPr>
            <a:lvl4pPr marL="1828800" lvl="3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–"/>
              <a:defRPr sz="8600"/>
            </a:lvl4pPr>
            <a:lvl5pPr marL="2286000" lvl="4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»"/>
              <a:defRPr sz="8600"/>
            </a:lvl5pPr>
            <a:lvl6pPr marL="2743200" lvl="5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6pPr>
            <a:lvl7pPr marL="3200400" lvl="6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7pPr>
            <a:lvl8pPr marL="3657600" lvl="7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8pPr>
            <a:lvl9pPr marL="4114800" lvl="8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marL="457200" lvl="0" indent="-2286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sz="11500" b="1"/>
            </a:lvl1pPr>
            <a:lvl2pPr marL="914400" lvl="1" indent="-2286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None/>
              <a:defRPr sz="8600" b="1"/>
            </a:lvl3pPr>
            <a:lvl4pPr marL="1828800" lvl="3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4pPr>
            <a:lvl5pPr marL="2286000" lvl="4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5pPr>
            <a:lvl6pPr marL="2743200" lvl="5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6pPr>
            <a:lvl7pPr marL="3200400" lvl="6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7pPr>
            <a:lvl8pPr marL="3657600" lvl="7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8pPr>
            <a:lvl9pPr marL="4114800" lvl="8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2194560" y="10439400"/>
            <a:ext cx="19392902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95885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marL="914400" lvl="1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–"/>
              <a:defRPr sz="9600"/>
            </a:lvl2pPr>
            <a:lvl3pPr marL="1371600" lvl="2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3pPr>
            <a:lvl4pPr marL="1828800" lvl="3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marL="2286000" lvl="4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marL="2743200" lvl="5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marL="3200400" lvl="6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marL="3657600" lvl="7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marL="4114800" lvl="8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22296122" y="7368542"/>
            <a:ext cx="19400520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marL="457200" lvl="0" indent="-2286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sz="11500" b="1"/>
            </a:lvl1pPr>
            <a:lvl2pPr marL="914400" lvl="1" indent="-2286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None/>
              <a:defRPr sz="8600" b="1"/>
            </a:lvl3pPr>
            <a:lvl4pPr marL="1828800" lvl="3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4pPr>
            <a:lvl5pPr marL="2286000" lvl="4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5pPr>
            <a:lvl6pPr marL="2743200" lvl="5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6pPr>
            <a:lvl7pPr marL="3200400" lvl="6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7pPr>
            <a:lvl8pPr marL="3657600" lvl="7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8pPr>
            <a:lvl9pPr marL="4114800" lvl="8" indent="-228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sz="77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22296122" y="10439400"/>
            <a:ext cx="19400520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95885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marL="914400" lvl="1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–"/>
              <a:defRPr sz="9600"/>
            </a:lvl2pPr>
            <a:lvl3pPr marL="1371600" lvl="2" indent="-77470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Char char="•"/>
              <a:defRPr sz="8600"/>
            </a:lvl3pPr>
            <a:lvl4pPr marL="1828800" lvl="3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marL="2286000" lvl="4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marL="2743200" lvl="5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marL="3200400" lvl="6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marL="3657600" lvl="7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marL="4114800" lvl="8" indent="-71755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alibri"/>
              <a:buNone/>
              <a:defRPr sz="9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7160240" y="1310643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1206500" algn="l"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Char char="•"/>
              <a:defRPr sz="15400"/>
            </a:lvl1pPr>
            <a:lvl2pPr marL="914400" lvl="1" indent="-10795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–"/>
              <a:defRPr sz="13400"/>
            </a:lvl2pPr>
            <a:lvl3pPr marL="1371600" lvl="2" indent="-95885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3pPr>
            <a:lvl4pPr marL="1828800" lvl="3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–"/>
              <a:defRPr sz="9600"/>
            </a:lvl4pPr>
            <a:lvl5pPr marL="2286000" lvl="4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»"/>
              <a:defRPr sz="9600"/>
            </a:lvl5pPr>
            <a:lvl6pPr marL="2743200" lvl="5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marL="3200400" lvl="6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marL="3657600" lvl="7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marL="4114800" lvl="8" indent="-83820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2194563" y="6888483"/>
            <a:ext cx="1443990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2286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marL="914400" lvl="1" indent="-228600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/>
            </a:lvl2pPr>
            <a:lvl3pPr marL="1371600" lvl="2" indent="-228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marL="1828800" lvl="3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marL="2286000" lvl="4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marL="2743200" lvl="5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marL="3200400" lvl="6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marL="3657600" lvl="7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marL="4114800" lvl="8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alibri"/>
              <a:buNone/>
              <a:defRPr sz="9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8602982" y="2941320"/>
            <a:ext cx="2633472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8602982" y="25763222"/>
            <a:ext cx="2633472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2286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marL="914400" lvl="1" indent="-228600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/>
            </a:lvl2pPr>
            <a:lvl3pPr marL="1371600" lvl="2" indent="-228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marL="1828800" lvl="3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marL="2286000" lvl="4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marL="2743200" lvl="5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marL="3200400" lvl="6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marL="3657600" lvl="7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marL="4114800" lvl="8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1083289" y="-1207766"/>
            <a:ext cx="21724622" cy="395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22715220" y="10424165"/>
            <a:ext cx="28087320" cy="987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2598420" y="914405"/>
            <a:ext cx="28087320" cy="2889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6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Calibri"/>
              <a:buNone/>
              <a:defRPr sz="2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marR="0" lvl="0" indent="-1206500" algn="l" rtl="0"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sz="1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79500" algn="l" rtl="0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sz="13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58850" algn="l" rtl="0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sz="1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382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382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382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382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382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382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5787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1c7a25b43_0_3"/>
          <p:cNvSpPr/>
          <p:nvPr/>
        </p:nvSpPr>
        <p:spPr>
          <a:xfrm>
            <a:off x="14668500" y="7290572"/>
            <a:ext cx="14527800" cy="24256228"/>
          </a:xfrm>
          <a:prstGeom prst="rect">
            <a:avLst/>
          </a:prstGeom>
          <a:solidFill>
            <a:srgbClr val="7D99BA"/>
          </a:solidFill>
          <a:ln>
            <a:noFill/>
          </a:ln>
          <a:effectLst>
            <a:outerShdw blurRad="50800" dist="50800" dir="5400000" algn="ctr" rotWithShape="0">
              <a:srgbClr val="93BFD1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251c7a25b43_0_3"/>
          <p:cNvSpPr/>
          <p:nvPr/>
        </p:nvSpPr>
        <p:spPr>
          <a:xfrm>
            <a:off x="1471246" y="7290572"/>
            <a:ext cx="12244800" cy="24256228"/>
          </a:xfrm>
          <a:prstGeom prst="rect">
            <a:avLst/>
          </a:prstGeom>
          <a:solidFill>
            <a:srgbClr val="7D99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251c7a25b43_0_3"/>
          <p:cNvSpPr txBox="1"/>
          <p:nvPr/>
        </p:nvSpPr>
        <p:spPr>
          <a:xfrm>
            <a:off x="1167397" y="918642"/>
            <a:ext cx="294894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0" b="1" dirty="0">
                <a:solidFill>
                  <a:srgbClr val="EDB512"/>
                </a:solidFill>
              </a:rPr>
              <a:t>From Rehab to the OR: Cervical Cord Compression in a Polytrauma Patient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rgbClr val="EDB512"/>
              </a:solidFill>
            </a:endParaRPr>
          </a:p>
          <a:p>
            <a:pPr lvl="0" algn="ctr"/>
            <a:r>
              <a:rPr lang="en-US" sz="4800" b="1" dirty="0">
                <a:solidFill>
                  <a:schemeClr val="lt1"/>
                </a:solidFill>
              </a:rPr>
              <a:t>Michael Moradi, MD</a:t>
            </a:r>
            <a:r>
              <a:rPr lang="en-US" sz="4800" b="1" baseline="30000" dirty="0">
                <a:solidFill>
                  <a:schemeClr val="lt1"/>
                </a:solidFill>
              </a:rPr>
              <a:t>1</a:t>
            </a:r>
            <a:r>
              <a:rPr lang="en-US" sz="4800" b="1" dirty="0">
                <a:solidFill>
                  <a:schemeClr val="lt1"/>
                </a:solidFill>
              </a:rPr>
              <a:t>, Lisa Suriya, MD</a:t>
            </a:r>
            <a:r>
              <a:rPr lang="en-US" sz="4800" b="1" baseline="30000" dirty="0">
                <a:solidFill>
                  <a:schemeClr val="lt1"/>
                </a:solidFill>
              </a:rPr>
              <a:t>1</a:t>
            </a:r>
            <a:r>
              <a:rPr lang="en-US" sz="4800" b="1" dirty="0">
                <a:solidFill>
                  <a:schemeClr val="lt1"/>
                </a:solidFill>
              </a:rPr>
              <a:t>, Negin Gohari, DO</a:t>
            </a:r>
            <a:r>
              <a:rPr lang="en-US" sz="4800" b="1" baseline="30000" dirty="0">
                <a:solidFill>
                  <a:schemeClr val="lt1"/>
                </a:solidFill>
              </a:rPr>
              <a:t>1</a:t>
            </a:r>
          </a:p>
          <a:p>
            <a:pPr lvl="0" algn="ctr"/>
            <a:endParaRPr sz="500" b="1" dirty="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baseline="30000" dirty="0">
                <a:solidFill>
                  <a:schemeClr val="lt1"/>
                </a:solidFill>
              </a:rPr>
              <a:t>1</a:t>
            </a:r>
            <a:r>
              <a:rPr lang="en-US" sz="4000" b="1" dirty="0">
                <a:solidFill>
                  <a:schemeClr val="lt1"/>
                </a:solidFill>
              </a:rPr>
              <a:t>Westchester Medical Center, Valhalla, NY, USA</a:t>
            </a:r>
            <a:endParaRPr sz="4000" b="1" dirty="0">
              <a:solidFill>
                <a:schemeClr val="lt1"/>
              </a:solidFill>
            </a:endParaRPr>
          </a:p>
        </p:txBody>
      </p:sp>
      <p:sp>
        <p:nvSpPr>
          <p:cNvPr id="117" name="Google Shape;117;g251c7a25b43_0_3"/>
          <p:cNvSpPr/>
          <p:nvPr/>
        </p:nvSpPr>
        <p:spPr>
          <a:xfrm>
            <a:off x="0" y="0"/>
            <a:ext cx="4389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51c7a25b43_0_3"/>
          <p:cNvSpPr/>
          <p:nvPr/>
        </p:nvSpPr>
        <p:spPr>
          <a:xfrm>
            <a:off x="0" y="0"/>
            <a:ext cx="4389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251c7a25b43_0_3"/>
          <p:cNvSpPr/>
          <p:nvPr/>
        </p:nvSpPr>
        <p:spPr>
          <a:xfrm>
            <a:off x="30148823" y="7290572"/>
            <a:ext cx="12244800" cy="24256227"/>
          </a:xfrm>
          <a:prstGeom prst="rect">
            <a:avLst/>
          </a:prstGeom>
          <a:solidFill>
            <a:srgbClr val="7D99BA"/>
          </a:solidFill>
          <a:ln>
            <a:noFill/>
          </a:ln>
          <a:effectLst>
            <a:outerShdw blurRad="50800" dist="50800" dir="5400000" algn="ctr" rotWithShape="0">
              <a:srgbClr val="5CA786">
                <a:alpha val="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251c7a25b43_0_3"/>
          <p:cNvSpPr txBox="1"/>
          <p:nvPr/>
        </p:nvSpPr>
        <p:spPr>
          <a:xfrm>
            <a:off x="2163556" y="8705016"/>
            <a:ext cx="10896600" cy="2317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65-year-old male fell down 15 stairs: +HS, +LOC (~5 mins) </a:t>
            </a:r>
            <a:r>
              <a:rPr lang="en-US" sz="4000" dirty="0" err="1"/>
              <a:t>i</a:t>
            </a:r>
            <a:r>
              <a:rPr lang="en-US" sz="4000" dirty="0"/>
              <a:t>/s/o alcohol intoxication.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Imaging revealed extra-axial hemorrhage, subarachnoid hemorrhage, and nondisplaced rib fractures.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lnSpc>
                <a:spcPct val="150000"/>
              </a:lnSpc>
              <a:buClr>
                <a:schemeClr val="lt1"/>
              </a:buClr>
              <a:buSzPts val="6500"/>
            </a:pPr>
            <a:endParaRPr lang="en-US" sz="12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Cervical/thoracic/lumbar spine CT were unremarkable.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Patient was evaluated by trauma surgery and neurosurgery.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Patient was admitted to trauma surgery.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Neurosurgery recommended levetiracetam for 7 days and </a:t>
            </a:r>
            <a:r>
              <a:rPr lang="en-US" sz="4000"/>
              <a:t>signed off, </a:t>
            </a:r>
            <a:r>
              <a:rPr lang="en-US" sz="4000" dirty="0"/>
              <a:t>citing no acute surgical intervention.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6500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Trauma surgery managed the patient medically.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6500"/>
            </a:pPr>
            <a:endParaRPr lang="en-US" sz="12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While in acute care, he noted right upper extremity weakness, initially attributed to shoulder pathology.</a:t>
            </a:r>
          </a:p>
          <a:p>
            <a:pPr marL="457200" lvl="0" indent="-641350">
              <a:lnSpc>
                <a:spcPct val="150000"/>
              </a:lnSpc>
              <a:buClr>
                <a:schemeClr val="lt1"/>
              </a:buClr>
              <a:buSzPts val="6500"/>
              <a:buFont typeface="Arial"/>
              <a:buChar char="●"/>
            </a:pPr>
            <a:endParaRPr lang="en-US" sz="12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X-ray showed calcific tendinitis. 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6500"/>
              <a:buFont typeface="Arial" panose="020B0604020202020204" pitchFamily="34" charset="0"/>
              <a:buChar char="•"/>
            </a:pPr>
            <a:r>
              <a:rPr lang="en-US" sz="4000" dirty="0"/>
              <a:t>After ten days in acute care, he was admitted to inpatient rehabilitation.</a:t>
            </a:r>
          </a:p>
        </p:txBody>
      </p:sp>
      <p:sp>
        <p:nvSpPr>
          <p:cNvPr id="121" name="Google Shape;121;g251c7a25b43_0_3"/>
          <p:cNvSpPr txBox="1"/>
          <p:nvPr/>
        </p:nvSpPr>
        <p:spPr>
          <a:xfrm>
            <a:off x="2819375" y="7520763"/>
            <a:ext cx="108966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EDB512"/>
                </a:solidFill>
              </a:rPr>
              <a:t>Case Presentation</a:t>
            </a:r>
            <a:endParaRPr dirty="0">
              <a:solidFill>
                <a:srgbClr val="EDB512"/>
              </a:solidFill>
            </a:endParaRPr>
          </a:p>
        </p:txBody>
      </p:sp>
      <p:sp>
        <p:nvSpPr>
          <p:cNvPr id="122" name="Google Shape;122;g251c7a25b43_0_3"/>
          <p:cNvSpPr txBox="1"/>
          <p:nvPr/>
        </p:nvSpPr>
        <p:spPr>
          <a:xfrm>
            <a:off x="30841204" y="8705016"/>
            <a:ext cx="10896600" cy="1301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Differentiating cervical cord pathology from peripheral musculoskeletal is difficult.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Initial right upper extremity weakness was attributed to shoulder pathology. 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Progressive motor deficits during rehabilitation prompted further evaluation.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Imaging lead to a timely diagnosis and surgical intervention that prevented further neurologic decline.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This case highlights the importance of ongoing neurologic assessment and maintaining suspicion for spinal pathology when exam findings change.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23" name="Google Shape;123;g251c7a25b43_0_3"/>
          <p:cNvSpPr txBox="1"/>
          <p:nvPr/>
        </p:nvSpPr>
        <p:spPr>
          <a:xfrm>
            <a:off x="30909080" y="7520766"/>
            <a:ext cx="61722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EDB512"/>
                </a:solidFill>
              </a:rPr>
              <a:t>Discussion</a:t>
            </a:r>
            <a:endParaRPr dirty="0">
              <a:solidFill>
                <a:srgbClr val="EDB512"/>
              </a:solidFill>
            </a:endParaRPr>
          </a:p>
        </p:txBody>
      </p:sp>
      <p:sp>
        <p:nvSpPr>
          <p:cNvPr id="124" name="Google Shape;124;g251c7a25b43_0_3"/>
          <p:cNvSpPr txBox="1"/>
          <p:nvPr/>
        </p:nvSpPr>
        <p:spPr>
          <a:xfrm>
            <a:off x="30656797" y="22933837"/>
            <a:ext cx="10896600" cy="84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Inpatient rehabilitation is essential for </a:t>
            </a:r>
            <a:r>
              <a:rPr lang="en-US" sz="4000" b="1" dirty="0"/>
              <a:t>ongoing medical assessment. 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Careful evaluation in rehabilitation can prompt further workup. 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Physiatrists play a critical role in identifying the cause of unexplained deficits. 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Early recognition and timely acute care transfer can significantly improve patient outcomes.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25" name="Google Shape;125;g251c7a25b43_0_3"/>
          <p:cNvSpPr txBox="1"/>
          <p:nvPr/>
        </p:nvSpPr>
        <p:spPr>
          <a:xfrm>
            <a:off x="30909080" y="21723924"/>
            <a:ext cx="61722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EDB512"/>
                </a:solidFill>
              </a:rPr>
              <a:t>Conclusion</a:t>
            </a:r>
            <a:endParaRPr dirty="0">
              <a:solidFill>
                <a:srgbClr val="EDB512"/>
              </a:solidFill>
            </a:endParaRPr>
          </a:p>
        </p:txBody>
      </p:sp>
      <p:pic>
        <p:nvPicPr>
          <p:cNvPr id="128" name="Google Shape;128;g251c7a25b4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9568" y="-337494"/>
            <a:ext cx="12244750" cy="450582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251c7a25b43_0_3"/>
          <p:cNvSpPr txBox="1"/>
          <p:nvPr/>
        </p:nvSpPr>
        <p:spPr>
          <a:xfrm>
            <a:off x="15541510" y="8743110"/>
            <a:ext cx="11612194" cy="2266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6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On admission to acute rehab, he reported severe stabbing neck pain radiating to the right shoulder. </a:t>
            </a:r>
          </a:p>
          <a:p>
            <a:pPr lvl="6">
              <a:lnSpc>
                <a:spcPct val="150000"/>
              </a:lnSpc>
              <a:buClr>
                <a:schemeClr val="lt1"/>
              </a:buClr>
              <a:buSzPts val="5000"/>
            </a:pPr>
            <a:endParaRPr lang="en-US" dirty="0"/>
          </a:p>
          <a:p>
            <a:pPr marL="571500" lvl="8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Initially, right shoulder flexion/abduction strength 2/5 and right elbow flexion/extension 4/5.</a:t>
            </a:r>
          </a:p>
          <a:p>
            <a:pPr marL="571500" lvl="8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8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Over the next few days, patient endorsed increased pain and weakness – even with pain medication adjustments.</a:t>
            </a:r>
          </a:p>
          <a:p>
            <a:pPr marL="571500" lvl="8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8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Reassessment of exam revealed: right shoulder flexion/abduction strength 1/5, right elbow flexion/extension 3/5. </a:t>
            </a:r>
          </a:p>
          <a:p>
            <a:pPr marL="571500" lvl="8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6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Decision was made to obtain an MRI due to worsening pain and increased weakness.</a:t>
            </a:r>
          </a:p>
          <a:p>
            <a:pPr marL="571500" lvl="6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b="1" dirty="0"/>
              <a:t>MRI revealed severe spinal canal stenosis and spinal cord compression at C5–C6. 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b="1" dirty="0"/>
              <a:t>He was readmitted to acute care and underwent posterior spinal fusion (C2–T2) with C3–C7 laminectomies, followed by anterior cervical discectomy and fusion at C5–C6.</a:t>
            </a:r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lnSpc>
                <a:spcPct val="150000"/>
              </a:lnSpc>
              <a:buClr>
                <a:schemeClr val="lt1"/>
              </a:buClr>
              <a:buSzPts val="5000"/>
              <a:buFont typeface="Arial" panose="020B0604020202020204" pitchFamily="34" charset="0"/>
              <a:buChar char="•"/>
            </a:pPr>
            <a:r>
              <a:rPr lang="en-US" sz="4000" dirty="0"/>
              <a:t>Postoperatively, his pain and neurologic function improved.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30" name="Google Shape;130;g251c7a25b43_0_3"/>
          <p:cNvSpPr txBox="1"/>
          <p:nvPr/>
        </p:nvSpPr>
        <p:spPr>
          <a:xfrm>
            <a:off x="16103966" y="7520775"/>
            <a:ext cx="85560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EDB512"/>
                </a:solidFill>
              </a:rPr>
              <a:t>Clinical Course</a:t>
            </a:r>
            <a:endParaRPr dirty="0">
              <a:solidFill>
                <a:srgbClr val="EDB512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11E28B2-63C5-4118-C5F8-680BA08F7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09568" y="3734777"/>
            <a:ext cx="10884055" cy="28022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422</Words>
  <Application>Microsoft Macintosh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Seema B Donahoe</dc:creator>
  <cp:lastModifiedBy>Garakani,Romina</cp:lastModifiedBy>
  <cp:revision>17</cp:revision>
  <cp:lastPrinted>2023-11-08T00:30:07Z</cp:lastPrinted>
  <dcterms:created xsi:type="dcterms:W3CDTF">2017-11-01T20:15:26Z</dcterms:created>
  <dcterms:modified xsi:type="dcterms:W3CDTF">2026-02-16T14:39:22Z</dcterms:modified>
</cp:coreProperties>
</file>